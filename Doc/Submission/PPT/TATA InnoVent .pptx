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59" r:id="rId6"/>
    <p:sldId id="260" r:id="rId7"/>
    <p:sldId id="261" r:id="rId8"/>
    <p:sldId id="262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22996-FA51-45A8-9DA2-974FB66C4727}" v="5157" dt="2026-07-05T12:04:28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1" autoAdjust="0"/>
    <p:restoredTop sz="94660"/>
  </p:normalViewPr>
  <p:slideViewPr>
    <p:cSldViewPr snapToGrid="0">
      <p:cViewPr>
        <p:scale>
          <a:sx n="66" d="100"/>
          <a:sy n="66" d="100"/>
        </p:scale>
        <p:origin x="1668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6EEA-F1BE-9200-1CAA-421CA155C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99FD6-2FD3-FA0D-2994-6CB67E866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B1C38-D04B-22F7-1B86-ACE021DB9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FCB20-C0CF-0BB3-744D-088D182F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E2A57-F33C-EF40-CFCE-0C3AED40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33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B892-47B9-E4E4-17AF-6C71C3927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57A4-F316-3EBE-2CA6-AB499D547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EE442-2538-94FD-9972-C21E99664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72312-9739-AE5E-BC78-6E55CD02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18632-B583-D9F8-473B-4557FCBD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35FD6-B540-E343-3DDB-ECBEE7B8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BCFAD-B8BA-50D5-6747-EA511C943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873A2-D4BD-8B78-EEE4-9E46C60D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04777-4262-0079-4A1F-92F0FC40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709F5-5A6A-504F-1E6C-2512F854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92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DC8E-BA32-38A5-07AC-550FBEE0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B8F01-5734-5092-A71C-5DB64A1D5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F0A2E-DC44-881C-022B-B8A03FA82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44C1C-05C8-E7F9-1AD9-E1933F9B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0C4E-A5BF-BB28-A2A0-192B7DBAC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71BF6-64D4-AF37-BDA4-5FF709AE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46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9144-3111-D721-B3A8-89A817C1B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D13EA-3448-C77B-8776-5C8C10F3F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E6E67-E9A3-731C-6AB9-9DA6CDAA0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7472D-F7B7-A2BB-07DE-0DAA9AF11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5A2CEA-36E3-F3FC-4B76-E2EFD4AA4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F23BD2-9585-5F6D-2F15-F32B72C6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8C456-5CE8-C0A7-3A5A-DE24D653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F8AC21-6042-F584-B42D-FDB754EA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55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1030-8C59-4242-F9D8-DDA9DA246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1873A-A45B-455C-D050-4134E848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47A1D-3485-34A6-09FF-018EF249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5F1D3-02B6-7661-9117-F4EBB4BD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051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A1AA0-3911-5BED-4325-EA04942A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128150-4E9A-FDD1-16B7-B0D2D6C3E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E2884-7784-E15A-C0D6-06037C7CE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652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EAD7-CC79-3FC3-08B6-E489823E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D04E8-2914-B29D-2787-B8D123EA7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7B90F-AFBC-5DBE-2DE6-63E7001CE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44C39-DA39-FD48-04D6-FAE84373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A767F-9585-B481-B1F2-9A745FDE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C8070-CE22-3D26-7863-EB098933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844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76609-9C78-E192-A46A-8DA47C163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43D900-5044-4F7F-60E0-795EA5A98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7383A-880C-10EF-8038-43D85108F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BC670-6DD5-7C08-119D-862C44D08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C2DEA-00B0-44E7-20BC-AF541CD0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CAF22-250E-64B2-B30A-0366812D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528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6B0A0-0726-5F06-8989-173C3BC5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53222-F7C8-DA0A-6C28-23BF5FDB6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6ABB6-CF9B-0593-BE39-D6146F1BE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17771-234F-2ED4-7130-4AD2732F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0C4CA-2998-C8D7-5BBA-5D21B23B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98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55946-BABE-33B5-3A85-1ADFBE10C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407FE-9E83-208F-0C54-FCFA0BF57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89ECF-D750-0344-3529-FBC99249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FB477-7DF4-7F08-D200-753897C4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5C7EB-04D1-0DB4-FAD2-E0A909D6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424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A68A5-5DF0-D782-12BB-2F12E8DF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F1AA2-EA3F-9573-0E27-ABE066EC5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546F8-8E79-09EA-279D-85B193AAA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BE374-C1D2-4656-A6FE-8DFFF2D6DCC2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32F38-DAF4-780A-C0D3-4BA45167E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BBF6-69E2-A167-9EDD-A4B679966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2614C4-2345-45C3-ACD1-60CAB87B4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7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aspberrypi.com/products/raspberry-pi-5/" TargetMode="External"/><Relationship Id="rId13" Type="http://schemas.openxmlformats.org/officeDocument/2006/relationships/hyperlink" Target="https://www.analog.com/en/products/ds18b20.html" TargetMode="External"/><Relationship Id="rId18" Type="http://schemas.openxmlformats.org/officeDocument/2006/relationships/hyperlink" Target="https://arxiv.org/abs/2601.10269" TargetMode="External"/><Relationship Id="rId3" Type="http://schemas.openxmlformats.org/officeDocument/2006/relationships/hyperlink" Target="https://developer.nvidia.com/embedded-computing" TargetMode="External"/><Relationship Id="rId21" Type="http://schemas.openxmlformats.org/officeDocument/2006/relationships/hyperlink" Target="https://developer.nvidia.com/tensorrt" TargetMode="External"/><Relationship Id="rId7" Type="http://schemas.openxmlformats.org/officeDocument/2006/relationships/hyperlink" Target="https://www.influxdata.com/products/influxdb/" TargetMode="External"/><Relationship Id="rId12" Type="http://schemas.openxmlformats.org/officeDocument/2006/relationships/hyperlink" Target="https://www.bosch-sensortec.com/products/environmental-sensors/pressure-sensors/bmp390/" TargetMode="External"/><Relationship Id="rId17" Type="http://schemas.openxmlformats.org/officeDocument/2006/relationships/hyperlink" Target="https://doi.org/10.1109/ICDM.2008.17" TargetMode="External"/><Relationship Id="rId2" Type="http://schemas.openxmlformats.org/officeDocument/2006/relationships/image" Target="../media/image10.png"/><Relationship Id="rId16" Type="http://schemas.openxmlformats.org/officeDocument/2006/relationships/hyperlink" Target="https://arxiv.org/abs/2604.27234" TargetMode="External"/><Relationship Id="rId20" Type="http://schemas.openxmlformats.org/officeDocument/2006/relationships/hyperlink" Target="https://arxiv.org/abs/1905.0591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ws.amazon.com/iot-core/" TargetMode="External"/><Relationship Id="rId11" Type="http://schemas.openxmlformats.org/officeDocument/2006/relationships/hyperlink" Target="https://www.analog.com/en/products/adxl335.html" TargetMode="External"/><Relationship Id="rId5" Type="http://schemas.openxmlformats.org/officeDocument/2006/relationships/hyperlink" Target="https://engineering.case.edu/bearingdatacenter" TargetMode="External"/><Relationship Id="rId15" Type="http://schemas.openxmlformats.org/officeDocument/2006/relationships/hyperlink" Target="https://arxiv.org/abs/1904.06442" TargetMode="External"/><Relationship Id="rId10" Type="http://schemas.openxmlformats.org/officeDocument/2006/relationships/hyperlink" Target="https://www.raspberrypi.com/products/camera-module-3/" TargetMode="External"/><Relationship Id="rId19" Type="http://schemas.openxmlformats.org/officeDocument/2006/relationships/hyperlink" Target="https://arxiv.org/abs/1312.6114" TargetMode="External"/><Relationship Id="rId4" Type="http://schemas.openxmlformats.org/officeDocument/2006/relationships/hyperlink" Target="https://data.nasa.gov/dataset/c-mapss-aircraft-engine-simulator-data" TargetMode="External"/><Relationship Id="rId9" Type="http://schemas.openxmlformats.org/officeDocument/2006/relationships/hyperlink" Target="https://coral.ai/products/accelerator" TargetMode="External"/><Relationship Id="rId14" Type="http://schemas.openxmlformats.org/officeDocument/2006/relationships/hyperlink" Target="https://www.microchip.com/en-us/product/MCP2515" TargetMode="External"/><Relationship Id="rId22" Type="http://schemas.openxmlformats.org/officeDocument/2006/relationships/hyperlink" Target="https://onnxruntime.ai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34767301-729B-641B-1C10-43EDE76F661B}"/>
              </a:ext>
            </a:extLst>
          </p:cNvPr>
          <p:cNvSpPr/>
          <p:nvPr/>
        </p:nvSpPr>
        <p:spPr>
          <a:xfrm>
            <a:off x="-1826684" y="-1845816"/>
            <a:ext cx="3653367" cy="36916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19D54-8E90-A265-0BB0-C658BD3EBD80}"/>
              </a:ext>
            </a:extLst>
          </p:cNvPr>
          <p:cNvSpPr txBox="1"/>
          <p:nvPr/>
        </p:nvSpPr>
        <p:spPr>
          <a:xfrm>
            <a:off x="1397855" y="1148743"/>
            <a:ext cx="93962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VITALS-Edge </a:t>
            </a:r>
          </a:p>
          <a:p>
            <a:pPr algn="ctr"/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Intelligent Telemetry &amp; Anomaly-Learning System</a:t>
            </a:r>
            <a:endParaRPr lang="en-IN" sz="28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332D5-ADD3-6282-5817-40BB5714118C}"/>
              </a:ext>
            </a:extLst>
          </p:cNvPr>
          <p:cNvSpPr txBox="1"/>
          <p:nvPr/>
        </p:nvSpPr>
        <p:spPr>
          <a:xfrm>
            <a:off x="1595957" y="2378035"/>
            <a:ext cx="90000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TATA Technologies </a:t>
            </a:r>
            <a:r>
              <a:rPr lang="en-US" sz="24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InnoVent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Hackathon– 26</a:t>
            </a:r>
          </a:p>
          <a:p>
            <a:pPr algn="ctr"/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PS: </a:t>
            </a:r>
            <a:r>
              <a:rPr lang="en-US" sz="2400" b="1" i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3.2.1.3. Edge AI for Vehicle Health and Predictive Maintenance</a:t>
            </a:r>
            <a:endParaRPr lang="en-IN" sz="2400" b="1" i="1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CAEA520-8ED8-A916-2F4C-EE814F56E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002133"/>
              </p:ext>
            </p:extLst>
          </p:nvPr>
        </p:nvGraphicFramePr>
        <p:xfrm>
          <a:off x="3234267" y="3648969"/>
          <a:ext cx="57234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266">
                  <a:extLst>
                    <a:ext uri="{9D8B030D-6E8A-4147-A177-3AD203B41FA5}">
                      <a16:colId xmlns:a16="http://schemas.microsoft.com/office/drawing/2014/main" val="17221560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191539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– From Sri Eshwar College of Engineering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456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Mithun 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Year - AI&amp;DS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214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Mohammed Rafi 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Year - AI&amp;DS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27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Dhivyadharshini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Pre-Final Year - AI&amp;DS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06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Sandeep Prabakar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Pre-Final Year - Cyber Security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114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Thejeswini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Pre-Final Year - Cyber Security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315232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6F95D76E-5CC0-7952-F619-A0ADDDEB0082}"/>
              </a:ext>
            </a:extLst>
          </p:cNvPr>
          <p:cNvSpPr/>
          <p:nvPr/>
        </p:nvSpPr>
        <p:spPr>
          <a:xfrm>
            <a:off x="10365316" y="5012184"/>
            <a:ext cx="3653367" cy="369163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628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AC21C-70A0-8132-43A8-6AC7BBBC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869E5F-DDF5-A34E-E5A7-9B005A8C38C0}"/>
              </a:ext>
            </a:extLst>
          </p:cNvPr>
          <p:cNvSpPr txBox="1"/>
          <p:nvPr/>
        </p:nvSpPr>
        <p:spPr>
          <a:xfrm>
            <a:off x="555490" y="587023"/>
            <a:ext cx="3123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60495-15F1-F9DD-F6AE-F83783F5D5E4}"/>
              </a:ext>
            </a:extLst>
          </p:cNvPr>
          <p:cNvSpPr txBox="1"/>
          <p:nvPr/>
        </p:nvSpPr>
        <p:spPr>
          <a:xfrm>
            <a:off x="555490" y="941686"/>
            <a:ext cx="10906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Breakdown of Vehicles due to poor maintenance can dramatically cut down downtime, maintenance spend and disrupt schedules.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7190F-E8BD-D220-1CAE-29EEF97D1B4D}"/>
              </a:ext>
            </a:extLst>
          </p:cNvPr>
          <p:cNvSpPr txBox="1"/>
          <p:nvPr/>
        </p:nvSpPr>
        <p:spPr>
          <a:xfrm>
            <a:off x="555490" y="1434849"/>
            <a:ext cx="223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pain Points 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806017-FD0A-DA2F-A2C6-5D37B21371D7}"/>
              </a:ext>
            </a:extLst>
          </p:cNvPr>
          <p:cNvSpPr txBox="1"/>
          <p:nvPr/>
        </p:nvSpPr>
        <p:spPr>
          <a:xfrm>
            <a:off x="555490" y="1773403"/>
            <a:ext cx="10906680" cy="1455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Unplanned Downtime: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deployment of small fleets, unplanned downtime can lead to disruption of schedules and may lead to stop revenue. Productivity Loss due to Idle vehicles leads to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idls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crews and delayed jobs and customer dissatisfaction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and Compliance: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maintenance can threat public safety and regulatory compliance. Safety Studies found that Fleets with maintenance violations are 65% more likely to crash. Compliance violations can lead to fines or service bans </a:t>
            </a:r>
          </a:p>
          <a:p>
            <a:pPr marL="285750" indent="-2857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Cost: 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eactive repairs provides sudden inflation in budgets. Predictive repairs reduces productivity when fleets are healthy. Older assets can cause huge maintenance cost also degrades fuel efficiency while reducing asset life.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874170-433C-115D-0C13-E65A0A94A7B9}"/>
              </a:ext>
            </a:extLst>
          </p:cNvPr>
          <p:cNvSpPr txBox="1"/>
          <p:nvPr/>
        </p:nvSpPr>
        <p:spPr>
          <a:xfrm>
            <a:off x="555490" y="3208601"/>
            <a:ext cx="2031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D1E62-1D10-01F6-2976-DE49F28DC139}"/>
              </a:ext>
            </a:extLst>
          </p:cNvPr>
          <p:cNvSpPr txBox="1"/>
          <p:nvPr/>
        </p:nvSpPr>
        <p:spPr>
          <a:xfrm>
            <a:off x="555490" y="3547155"/>
            <a:ext cx="10906680" cy="1917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and connectivity: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Vehicles generate noisy, incomplete telematics data. Edge devices must buffer data through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intermitterntseamless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connectivity but remote or low bandwidth areas challenge real-time analytics.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complexities: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accurate models demands both clean and failure data which are scarce in real-time. Building high-fidelity digital twin model also incurs heavy computation and modelling effort.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Constraints: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On-board system have limited compute capacity, though IoT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sesors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have plunged and integrating them to fleets still requires capital and careful integration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and culture: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AI into legacy fleet operations is non-trivial. Sudden upgrade in culture and technology leads to skill gaps from technicians creates slow adaptation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589F1628-9335-83A7-3835-C2D761C631AA}"/>
              </a:ext>
            </a:extLst>
          </p:cNvPr>
          <p:cNvSpPr/>
          <p:nvPr/>
        </p:nvSpPr>
        <p:spPr>
          <a:xfrm rot="10800000">
            <a:off x="10808208" y="0"/>
            <a:ext cx="1383792" cy="1320373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60E73C1-404D-27AB-10A0-C6C5D9037FEE}"/>
              </a:ext>
            </a:extLst>
          </p:cNvPr>
          <p:cNvSpPr/>
          <p:nvPr/>
        </p:nvSpPr>
        <p:spPr>
          <a:xfrm>
            <a:off x="0" y="5537627"/>
            <a:ext cx="1383792" cy="1320373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824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144FE-02AD-01B6-FAB4-0DF2B475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0AA5002-59C8-C999-B2FA-4AD8E13BFFB4}"/>
              </a:ext>
            </a:extLst>
          </p:cNvPr>
          <p:cNvSpPr txBox="1"/>
          <p:nvPr/>
        </p:nvSpPr>
        <p:spPr>
          <a:xfrm>
            <a:off x="632177" y="257839"/>
            <a:ext cx="3001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44CDF-A800-8BD7-FBCF-34906B6121E1}"/>
              </a:ext>
            </a:extLst>
          </p:cNvPr>
          <p:cNvSpPr txBox="1"/>
          <p:nvPr/>
        </p:nvSpPr>
        <p:spPr>
          <a:xfrm>
            <a:off x="632177" y="602584"/>
            <a:ext cx="39756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Cloud-Based Telematics &amp; OEM Platforms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D06A5-A1DD-4E3F-E99E-05AC42E2A248}"/>
              </a:ext>
            </a:extLst>
          </p:cNvPr>
          <p:cNvSpPr txBox="1"/>
          <p:nvPr/>
        </p:nvSpPr>
        <p:spPr>
          <a:xfrm>
            <a:off x="632177" y="937936"/>
            <a:ext cx="10906680" cy="1817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7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 stream sensor/telematics data to remote serves for analysis. OEM offers their own cloud services. </a:t>
            </a:r>
          </a:p>
          <a:p>
            <a:pPr algn="just">
              <a:lnSpc>
                <a:spcPts val="1700"/>
              </a:lnSpc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On-Board -&gt; cellular -&gt; cloud analytics platform -&gt; alerts to fleet managers [Data is stored centrally]</a:t>
            </a:r>
          </a:p>
          <a:p>
            <a:pPr algn="just">
              <a:lnSpc>
                <a:spcPts val="1700"/>
              </a:lnSpc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71450" indent="-171450" algn="just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Connectivity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processing causes network delays. Bandwidth links may be transient or low which can miss or delay fault alerts.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continous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data uplinks raise privacy and security concerns. Edge processing is to 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data privacy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keeping data local but does not have storage or higher computation. Implication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models may risk in data leakage</a:t>
            </a:r>
          </a:p>
          <a:p>
            <a:pPr marL="171450" indent="-171450" algn="just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trained under a single environment may get degraded as vehicles age or usage patterns change. Updating cloud models requires continual re-labelling.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2C745-6423-015A-A6F3-47ECB9329B84}"/>
              </a:ext>
            </a:extLst>
          </p:cNvPr>
          <p:cNvSpPr txBox="1"/>
          <p:nvPr/>
        </p:nvSpPr>
        <p:spPr>
          <a:xfrm>
            <a:off x="632177" y="2699101"/>
            <a:ext cx="3425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Edge/On-Device Rule-Based Systems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CCEF76-BE1C-133C-E01E-B522C472F65D}"/>
              </a:ext>
            </a:extLst>
          </p:cNvPr>
          <p:cNvSpPr txBox="1"/>
          <p:nvPr/>
        </p:nvSpPr>
        <p:spPr>
          <a:xfrm>
            <a:off x="632177" y="2999027"/>
            <a:ext cx="10906680" cy="1599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7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diagnostics or predictions can run on vehicle’s ECU or gateway [for example: processing of threshold alerts, fault codes, vibration warnings, etc.,] No complex ML.</a:t>
            </a:r>
          </a:p>
          <a:p>
            <a:pPr algn="just">
              <a:lnSpc>
                <a:spcPts val="1700"/>
              </a:lnSpc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sensors -&gt; ECU -&gt; on board software -&gt; dashboard warnings</a:t>
            </a:r>
          </a:p>
          <a:p>
            <a:pPr algn="just">
              <a:lnSpc>
                <a:spcPts val="1700"/>
              </a:lnSpc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" indent="-171450" algn="just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Alarms / delayed Alerts: Fixed rules can generated many false positives and negatives.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based monitoring produces alerts not aligned with how machines actually operate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causing reliability issues. Drivers also often ignore to check engines or ignore alerts and only notice at failure’s end.</a:t>
            </a:r>
          </a:p>
          <a:p>
            <a:pPr marL="171450" indent="-171450" algn="just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Scope: Rule systems detect only known failures. They cannot predict complex interactions. No learning means no improvement from data.</a:t>
            </a:r>
          </a:p>
          <a:p>
            <a:pPr marL="171450" indent="-171450" algn="just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Explainability / Visibility: System offering minimal insights causes confusion among technicians due to poor explanation leads to limiting trust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90CE67-F8E0-3270-7E4E-9BB9CA3E4330}"/>
              </a:ext>
            </a:extLst>
          </p:cNvPr>
          <p:cNvSpPr txBox="1"/>
          <p:nvPr/>
        </p:nvSpPr>
        <p:spPr>
          <a:xfrm>
            <a:off x="632177" y="4598952"/>
            <a:ext cx="1347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90C61C-A8EB-E6D6-1AC2-49320F290F09}"/>
              </a:ext>
            </a:extLst>
          </p:cNvPr>
          <p:cNvSpPr txBox="1"/>
          <p:nvPr/>
        </p:nvSpPr>
        <p:spPr>
          <a:xfrm>
            <a:off x="632177" y="4934304"/>
            <a:ext cx="10906680" cy="151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6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twin is a detailed virtual replica of a vehicle or its subsystems, continuously updated with real-time data. In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twin can simulate wear and predict failures by comparing observed behavior to simulated healthy models.</a:t>
            </a:r>
          </a:p>
          <a:p>
            <a:pPr algn="just">
              <a:lnSpc>
                <a:spcPts val="1600"/>
              </a:lnSpc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" indent="-171450" algn="just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and Cost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and maintaining accurate twins is expensive. It requires detailed vehicle models, specialized software, and calibration.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and Integration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Twins rely on diverse data (CAD models, sensor feeds, maintenance records). Integrating all this – especially for legacy vehicles – is very difficult.</a:t>
            </a:r>
          </a:p>
          <a:p>
            <a:pPr marL="171450" indent="-171450" algn="just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and Scalability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simulations in real time for every vehicle pushes computational limits.</a:t>
            </a:r>
          </a:p>
          <a:p>
            <a:pPr marL="171450" indent="-171450" algn="just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twin platforms aggregate sensitive data. Ensuring secure, compliant implementation is challenging.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CDDEDF8-545E-F72E-2792-E4E014074AE4}"/>
              </a:ext>
            </a:extLst>
          </p:cNvPr>
          <p:cNvGrpSpPr/>
          <p:nvPr/>
        </p:nvGrpSpPr>
        <p:grpSpPr>
          <a:xfrm>
            <a:off x="-316089" y="-1116141"/>
            <a:ext cx="632177" cy="8927229"/>
            <a:chOff x="0" y="-991782"/>
            <a:chExt cx="632177" cy="8927229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5B078A8B-4A60-744E-94E8-F7528E13BBFE}"/>
                </a:ext>
              </a:extLst>
            </p:cNvPr>
            <p:cNvSpPr/>
            <p:nvPr/>
          </p:nvSpPr>
          <p:spPr>
            <a:xfrm rot="5400000">
              <a:off x="-1184483" y="6118787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5D47E1FD-4639-732E-9F4E-E34129D9BB22}"/>
                </a:ext>
              </a:extLst>
            </p:cNvPr>
            <p:cNvSpPr/>
            <p:nvPr/>
          </p:nvSpPr>
          <p:spPr>
            <a:xfrm rot="5400000">
              <a:off x="-1184483" y="3155744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BC49F088-056A-E008-5755-5DC832EA9A51}"/>
                </a:ext>
              </a:extLst>
            </p:cNvPr>
            <p:cNvSpPr/>
            <p:nvPr/>
          </p:nvSpPr>
          <p:spPr>
            <a:xfrm rot="5400000">
              <a:off x="-1184483" y="192701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DD3808-70BE-4B15-A46D-E62C842A450F}"/>
              </a:ext>
            </a:extLst>
          </p:cNvPr>
          <p:cNvGrpSpPr/>
          <p:nvPr/>
        </p:nvGrpSpPr>
        <p:grpSpPr>
          <a:xfrm>
            <a:off x="11854944" y="-1072715"/>
            <a:ext cx="632179" cy="9003429"/>
            <a:chOff x="11559821" y="-1154240"/>
            <a:chExt cx="632179" cy="9003429"/>
          </a:xfrm>
        </p:grpSpPr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5FE7A232-FFD6-773D-33DB-D52044A7612D}"/>
                </a:ext>
              </a:extLst>
            </p:cNvPr>
            <p:cNvSpPr/>
            <p:nvPr/>
          </p:nvSpPr>
          <p:spPr>
            <a:xfrm rot="5400000">
              <a:off x="10375340" y="30243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03515CE5-206E-6935-D9C5-FBC0EDA4E5C5}"/>
                </a:ext>
              </a:extLst>
            </p:cNvPr>
            <p:cNvSpPr/>
            <p:nvPr/>
          </p:nvSpPr>
          <p:spPr>
            <a:xfrm rot="5400000">
              <a:off x="10375339" y="3031386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6CCDCADA-9644-2F11-1B1B-E6A617933E75}"/>
                </a:ext>
              </a:extLst>
            </p:cNvPr>
            <p:cNvSpPr/>
            <p:nvPr/>
          </p:nvSpPr>
          <p:spPr>
            <a:xfrm rot="5400000">
              <a:off x="10375338" y="6032529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6512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809347E-7B85-315A-EF0C-4A438961A31D}"/>
              </a:ext>
            </a:extLst>
          </p:cNvPr>
          <p:cNvSpPr txBox="1"/>
          <p:nvPr/>
        </p:nvSpPr>
        <p:spPr>
          <a:xfrm>
            <a:off x="641702" y="992902"/>
            <a:ext cx="3257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ML (RUL/Anomaly) Models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709EA-AFD8-0EC3-ABB8-EE8FBC1D1FD4}"/>
              </a:ext>
            </a:extLst>
          </p:cNvPr>
          <p:cNvSpPr txBox="1"/>
          <p:nvPr/>
        </p:nvSpPr>
        <p:spPr>
          <a:xfrm>
            <a:off x="641702" y="1328255"/>
            <a:ext cx="10906680" cy="2840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machine learning models, data are being sent to cloud. Models may use supervised training or unsupervised anomaly scores.</a:t>
            </a:r>
          </a:p>
          <a:p>
            <a:pPr algn="just">
              <a:lnSpc>
                <a:spcPts val="1800"/>
              </a:lnSpc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Vehicles sensors -&gt; data lake -&gt; feature extraction -&gt; ML models -&gt; predicted RUL -&gt; Maintenance alerts</a:t>
            </a:r>
          </a:p>
          <a:p>
            <a:pPr algn="just">
              <a:lnSpc>
                <a:spcPts val="1800"/>
              </a:lnSpc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71450" indent="-1714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Labelling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Supervised RUL models require failure examples. Actual failures are rare and poorly logged. Without labels, unsupervised or heuristic methods must be used, which are less reliable</a:t>
            </a:r>
          </a:p>
          <a:p>
            <a:pPr marL="171450" indent="-1714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Gap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Models trained on C-MAPSS or lab data may not generalize to complex vehicle drivetrains. cloud ML often suffers “model drift” when field conditions differ.</a:t>
            </a:r>
          </a:p>
          <a:p>
            <a:pPr marL="171450" indent="-1714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Complex ML models (deep nets, ensembles) are black boxes. Operators struggle to trust “ghost alerts” without clear reasons. Edge-case anomalies may go unexplained, hindering diagnosis.</a:t>
            </a:r>
          </a:p>
          <a:p>
            <a:pPr marL="171450" indent="-1714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&amp; latency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ML requires constant data upload and inference in the cloud. Network outages or slow links can mean missing a fast-developing fault.</a:t>
            </a:r>
          </a:p>
          <a:p>
            <a:pPr marL="171450" indent="-1714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Costs &amp; maintenance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Training/hosting large ML models is costly. Moreover, models must be re‑trained for new vehicle types or updated fleets, adding to total cost of ownership.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8D33C-DD9B-E4F8-1213-0DF12B2DE70E}"/>
              </a:ext>
            </a:extLst>
          </p:cNvPr>
          <p:cNvSpPr txBox="1"/>
          <p:nvPr/>
        </p:nvSpPr>
        <p:spPr>
          <a:xfrm>
            <a:off x="632177" y="587023"/>
            <a:ext cx="3001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A3B12B-D928-B021-9585-DCCFFAD0B70A}"/>
              </a:ext>
            </a:extLst>
          </p:cNvPr>
          <p:cNvSpPr txBox="1"/>
          <p:nvPr/>
        </p:nvSpPr>
        <p:spPr>
          <a:xfrm>
            <a:off x="632177" y="4212651"/>
            <a:ext cx="3042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Edge–Cloud Approaches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CA1C9B-19DE-9B56-F49C-08A8C3526BFC}"/>
              </a:ext>
            </a:extLst>
          </p:cNvPr>
          <p:cNvSpPr txBox="1"/>
          <p:nvPr/>
        </p:nvSpPr>
        <p:spPr>
          <a:xfrm>
            <a:off x="632177" y="4548003"/>
            <a:ext cx="10906680" cy="1455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combination of Local (Edge) inference with Cloud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Anlaytics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1450" indent="-1714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Complexity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and maintaining a hybrid system is more complex. Requires careful orchestration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Connectivity Needs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with local processing, these architectures still rely on cloud periodically.</a:t>
            </a:r>
          </a:p>
          <a:p>
            <a:pPr marL="171450" indent="-1714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&amp; Expertise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solutions often demand both edge hardware upgrades and cloud services, raising total costs.</a:t>
            </a:r>
          </a:p>
          <a:p>
            <a:pPr marL="171450" indent="-171450" algn="just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Maintenance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models can suffer drift on the edge side as conditions change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3479CBE-C3B5-EFD2-6600-7527560DC266}"/>
              </a:ext>
            </a:extLst>
          </p:cNvPr>
          <p:cNvGrpSpPr/>
          <p:nvPr/>
        </p:nvGrpSpPr>
        <p:grpSpPr>
          <a:xfrm>
            <a:off x="-1406858" y="-231848"/>
            <a:ext cx="15005715" cy="400110"/>
            <a:chOff x="-303861" y="-18380"/>
            <a:chExt cx="15005715" cy="632177"/>
          </a:xfrm>
        </p:grpSpPr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8994A953-6AF0-0117-DCAF-B5D7614B877A}"/>
                </a:ext>
              </a:extLst>
            </p:cNvPr>
            <p:cNvSpPr/>
            <p:nvPr/>
          </p:nvSpPr>
          <p:spPr>
            <a:xfrm>
              <a:off x="-303861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DA289DA4-1E00-D7FE-47EF-855CE0A3B027}"/>
                </a:ext>
              </a:extLst>
            </p:cNvPr>
            <p:cNvSpPr/>
            <p:nvPr/>
          </p:nvSpPr>
          <p:spPr>
            <a:xfrm>
              <a:off x="2697282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EEF0A967-C0D7-6835-8054-E8E1E732A3B1}"/>
                </a:ext>
              </a:extLst>
            </p:cNvPr>
            <p:cNvSpPr/>
            <p:nvPr/>
          </p:nvSpPr>
          <p:spPr>
            <a:xfrm>
              <a:off x="5698425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0CAEA24D-280B-4AB2-BAD6-DCD0A5E5D35F}"/>
                </a:ext>
              </a:extLst>
            </p:cNvPr>
            <p:cNvSpPr/>
            <p:nvPr/>
          </p:nvSpPr>
          <p:spPr>
            <a:xfrm>
              <a:off x="8699568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ECD33886-9AED-3C0D-79C9-8D91F6B4F8DE}"/>
                </a:ext>
              </a:extLst>
            </p:cNvPr>
            <p:cNvSpPr/>
            <p:nvPr/>
          </p:nvSpPr>
          <p:spPr>
            <a:xfrm>
              <a:off x="11700711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B1AC3A-7C18-5BA5-B46D-0E3BF9735D8B}"/>
              </a:ext>
            </a:extLst>
          </p:cNvPr>
          <p:cNvGrpSpPr/>
          <p:nvPr/>
        </p:nvGrpSpPr>
        <p:grpSpPr>
          <a:xfrm>
            <a:off x="-1417341" y="6649989"/>
            <a:ext cx="15005715" cy="400110"/>
            <a:chOff x="-303861" y="-18380"/>
            <a:chExt cx="15005715" cy="632177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F1D63B5C-CA9B-79D9-B621-04CE0605FBE1}"/>
                </a:ext>
              </a:extLst>
            </p:cNvPr>
            <p:cNvSpPr/>
            <p:nvPr/>
          </p:nvSpPr>
          <p:spPr>
            <a:xfrm>
              <a:off x="-303861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2F5577DB-BA75-CB64-0243-0B6EF598637A}"/>
                </a:ext>
              </a:extLst>
            </p:cNvPr>
            <p:cNvSpPr/>
            <p:nvPr/>
          </p:nvSpPr>
          <p:spPr>
            <a:xfrm>
              <a:off x="2697282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5EED1BE2-F5A1-0747-50FE-D12785BDFC35}"/>
                </a:ext>
              </a:extLst>
            </p:cNvPr>
            <p:cNvSpPr/>
            <p:nvPr/>
          </p:nvSpPr>
          <p:spPr>
            <a:xfrm>
              <a:off x="5698425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5376261F-C588-F987-0119-C18D7798EF22}"/>
                </a:ext>
              </a:extLst>
            </p:cNvPr>
            <p:cNvSpPr/>
            <p:nvPr/>
          </p:nvSpPr>
          <p:spPr>
            <a:xfrm>
              <a:off x="8699568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78D1A88B-5256-254D-E8A2-4F4E8FC74ED6}"/>
                </a:ext>
              </a:extLst>
            </p:cNvPr>
            <p:cNvSpPr/>
            <p:nvPr/>
          </p:nvSpPr>
          <p:spPr>
            <a:xfrm>
              <a:off x="11700711" y="-18380"/>
              <a:ext cx="3001143" cy="632177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741514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BE223-A22B-9297-C229-5A253B09A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99B0FF-0360-B2CD-4872-6F89E903CEB1}"/>
              </a:ext>
            </a:extLst>
          </p:cNvPr>
          <p:cNvSpPr txBox="1"/>
          <p:nvPr/>
        </p:nvSpPr>
        <p:spPr>
          <a:xfrm>
            <a:off x="632177" y="767700"/>
            <a:ext cx="3001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66A35-85E5-9D26-D6D4-9E8609814E11}"/>
              </a:ext>
            </a:extLst>
          </p:cNvPr>
          <p:cNvSpPr txBox="1"/>
          <p:nvPr/>
        </p:nvSpPr>
        <p:spPr>
          <a:xfrm>
            <a:off x="632177" y="1233714"/>
            <a:ext cx="10761537" cy="4456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VITALS-Edge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edge-first AI platform that performs </a:t>
            </a:r>
            <a:r>
              <a:rPr lang="en-US" sz="12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vehicle health monitoring and predictive maintenance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on the vehicle instead of relying on continuous cloud processing. </a:t>
            </a:r>
          </a:p>
          <a:p>
            <a:pPr marL="742950" lvl="1" indent="-285750" algn="just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existing cloud-centric solutions, VITALS-Edge brings intelligence to the asset itself, allowing vehicles to detect developing faults, estimate Remaining Useful Life (RUL), and generate maintenance recommendations even when internet connectivity is unavailable. </a:t>
            </a:r>
          </a:p>
          <a:p>
            <a:pPr marL="285750" indent="-285750" algn="just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collects data from CAN/OBD-II, vibration sensors, temperature sensors, pressure sensors, and other vehicle telemetry. Instead of transmitting every sensor reading to the cloud, the raw data is processed locally using a lightweight preprocessing pipeline that extracts meaningful features such as vibration frequencies, temperature trends, and operational load. </a:t>
            </a:r>
          </a:p>
          <a:p>
            <a:pPr marL="285750" indent="-285750" algn="just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processed signals are then analyzed by two complementary AI models running entirely on the edge device. </a:t>
            </a:r>
          </a:p>
          <a:p>
            <a:pPr marL="742950" lvl="1" indent="-285750" algn="just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is an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anomaly detection model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(Autoencoder/Isolation Forest), capable of learning normal operating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behavour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detecting previously unseen failure patterns without requiring labelled fault data. This directly addresses one of the industry's biggest challenges—the scarcity of labelled mechanical failure datasets. </a:t>
            </a:r>
          </a:p>
          <a:p>
            <a:pPr marL="742950" lvl="1" indent="-285750" algn="just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is a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CNN-LSTM Remaining Useful Life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(RUL)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model, which estimates how long a component can safely operate before maintenance becomes necessary, enabling condition-based servicing instead of calendar-based maintenance.</a:t>
            </a:r>
          </a:p>
          <a:p>
            <a:pPr marL="285750" indent="-285750" algn="just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predictions are generated, a local decision engine classifies vehicle health into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Healthy, Watch, Warning, or Critical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states and immediately triggers alerts on the edge device because all critical inference happens locally, the vehicle continues detecting failures even if cellular or cloud connectivity is lost. </a:t>
            </a:r>
          </a:p>
          <a:p>
            <a:pPr marL="285750" indent="-285750" algn="just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compact alert packets (typically less than 1 KB) containing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status, anomaly score, fault type, and RUL estimate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transmitted to the cloud, reducing bandwidth consumption while preserving sensitive operational data. </a:t>
            </a:r>
          </a:p>
          <a:p>
            <a:pPr marL="285750" indent="-285750" algn="just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directly solves the industry's concerns regarding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latency, expensive cloud transmission, and data privacy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common limitations of cloud-dependent predictive maintenance systems.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A07B61-82D5-2323-52B8-963103FECF62}"/>
              </a:ext>
            </a:extLst>
          </p:cNvPr>
          <p:cNvGrpSpPr/>
          <p:nvPr/>
        </p:nvGrpSpPr>
        <p:grpSpPr>
          <a:xfrm>
            <a:off x="-696687" y="6622143"/>
            <a:ext cx="13585374" cy="471714"/>
            <a:chOff x="-638631" y="6587786"/>
            <a:chExt cx="13585374" cy="471714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8" name="Flowchart: Punched Tape 17">
              <a:extLst>
                <a:ext uri="{FF2B5EF4-FFF2-40B4-BE49-F238E27FC236}">
                  <a16:creationId xmlns:a16="http://schemas.microsoft.com/office/drawing/2014/main" id="{A84B0684-F7E6-9AFC-EF8E-115BEC69A6F2}"/>
                </a:ext>
              </a:extLst>
            </p:cNvPr>
            <p:cNvSpPr/>
            <p:nvPr/>
          </p:nvSpPr>
          <p:spPr>
            <a:xfrm>
              <a:off x="-638631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lowchart: Punched Tape 18">
              <a:extLst>
                <a:ext uri="{FF2B5EF4-FFF2-40B4-BE49-F238E27FC236}">
                  <a16:creationId xmlns:a16="http://schemas.microsoft.com/office/drawing/2014/main" id="{BFD08D6E-8DF6-38FD-B3F8-1E465109F1D1}"/>
                </a:ext>
              </a:extLst>
            </p:cNvPr>
            <p:cNvSpPr/>
            <p:nvPr/>
          </p:nvSpPr>
          <p:spPr>
            <a:xfrm>
              <a:off x="870855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Flowchart: Punched Tape 19">
              <a:extLst>
                <a:ext uri="{FF2B5EF4-FFF2-40B4-BE49-F238E27FC236}">
                  <a16:creationId xmlns:a16="http://schemas.microsoft.com/office/drawing/2014/main" id="{BB80D525-E760-6B06-D6AB-077A8B4914A2}"/>
                </a:ext>
              </a:extLst>
            </p:cNvPr>
            <p:cNvSpPr/>
            <p:nvPr/>
          </p:nvSpPr>
          <p:spPr>
            <a:xfrm>
              <a:off x="2380341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Flowchart: Punched Tape 20">
              <a:extLst>
                <a:ext uri="{FF2B5EF4-FFF2-40B4-BE49-F238E27FC236}">
                  <a16:creationId xmlns:a16="http://schemas.microsoft.com/office/drawing/2014/main" id="{512F6E55-0C35-6868-399F-769684580B1E}"/>
                </a:ext>
              </a:extLst>
            </p:cNvPr>
            <p:cNvSpPr/>
            <p:nvPr/>
          </p:nvSpPr>
          <p:spPr>
            <a:xfrm>
              <a:off x="3889827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Flowchart: Punched Tape 21">
              <a:extLst>
                <a:ext uri="{FF2B5EF4-FFF2-40B4-BE49-F238E27FC236}">
                  <a16:creationId xmlns:a16="http://schemas.microsoft.com/office/drawing/2014/main" id="{76A0F00C-FE56-BD4D-A8AA-75436C0C6D7E}"/>
                </a:ext>
              </a:extLst>
            </p:cNvPr>
            <p:cNvSpPr/>
            <p:nvPr/>
          </p:nvSpPr>
          <p:spPr>
            <a:xfrm>
              <a:off x="5399313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Flowchart: Punched Tape 22">
              <a:extLst>
                <a:ext uri="{FF2B5EF4-FFF2-40B4-BE49-F238E27FC236}">
                  <a16:creationId xmlns:a16="http://schemas.microsoft.com/office/drawing/2014/main" id="{6BC66CA7-8217-3111-DB62-797A75AAB63C}"/>
                </a:ext>
              </a:extLst>
            </p:cNvPr>
            <p:cNvSpPr/>
            <p:nvPr/>
          </p:nvSpPr>
          <p:spPr>
            <a:xfrm>
              <a:off x="6908799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Flowchart: Punched Tape 23">
              <a:extLst>
                <a:ext uri="{FF2B5EF4-FFF2-40B4-BE49-F238E27FC236}">
                  <a16:creationId xmlns:a16="http://schemas.microsoft.com/office/drawing/2014/main" id="{86D373A3-7F40-37D8-E8C9-FD33016D7EA9}"/>
                </a:ext>
              </a:extLst>
            </p:cNvPr>
            <p:cNvSpPr/>
            <p:nvPr/>
          </p:nvSpPr>
          <p:spPr>
            <a:xfrm>
              <a:off x="8418285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Flowchart: Punched Tape 24">
              <a:extLst>
                <a:ext uri="{FF2B5EF4-FFF2-40B4-BE49-F238E27FC236}">
                  <a16:creationId xmlns:a16="http://schemas.microsoft.com/office/drawing/2014/main" id="{E1167CA6-E1EB-223C-7CD5-0A879D4C6971}"/>
                </a:ext>
              </a:extLst>
            </p:cNvPr>
            <p:cNvSpPr/>
            <p:nvPr/>
          </p:nvSpPr>
          <p:spPr>
            <a:xfrm>
              <a:off x="9927771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Flowchart: Punched Tape 25">
              <a:extLst>
                <a:ext uri="{FF2B5EF4-FFF2-40B4-BE49-F238E27FC236}">
                  <a16:creationId xmlns:a16="http://schemas.microsoft.com/office/drawing/2014/main" id="{7F8FAD3A-AC84-8C8D-3A6C-107A7E51820F}"/>
                </a:ext>
              </a:extLst>
            </p:cNvPr>
            <p:cNvSpPr/>
            <p:nvPr/>
          </p:nvSpPr>
          <p:spPr>
            <a:xfrm>
              <a:off x="11437257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976F37-35F4-B4BA-2AC4-47BF5E695EA9}"/>
              </a:ext>
            </a:extLst>
          </p:cNvPr>
          <p:cNvGrpSpPr/>
          <p:nvPr/>
        </p:nvGrpSpPr>
        <p:grpSpPr>
          <a:xfrm>
            <a:off x="-696687" y="-235857"/>
            <a:ext cx="13585374" cy="471714"/>
            <a:chOff x="-638631" y="6587786"/>
            <a:chExt cx="13585374" cy="471714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9" name="Flowchart: Punched Tape 28">
              <a:extLst>
                <a:ext uri="{FF2B5EF4-FFF2-40B4-BE49-F238E27FC236}">
                  <a16:creationId xmlns:a16="http://schemas.microsoft.com/office/drawing/2014/main" id="{87070CD6-14F1-E3B6-8DC5-7987A750B08D}"/>
                </a:ext>
              </a:extLst>
            </p:cNvPr>
            <p:cNvSpPr/>
            <p:nvPr/>
          </p:nvSpPr>
          <p:spPr>
            <a:xfrm>
              <a:off x="-638631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Flowchart: Punched Tape 29">
              <a:extLst>
                <a:ext uri="{FF2B5EF4-FFF2-40B4-BE49-F238E27FC236}">
                  <a16:creationId xmlns:a16="http://schemas.microsoft.com/office/drawing/2014/main" id="{616CB008-01EB-6A36-E099-9E704A92EFA6}"/>
                </a:ext>
              </a:extLst>
            </p:cNvPr>
            <p:cNvSpPr/>
            <p:nvPr/>
          </p:nvSpPr>
          <p:spPr>
            <a:xfrm>
              <a:off x="870855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Flowchart: Punched Tape 30">
              <a:extLst>
                <a:ext uri="{FF2B5EF4-FFF2-40B4-BE49-F238E27FC236}">
                  <a16:creationId xmlns:a16="http://schemas.microsoft.com/office/drawing/2014/main" id="{50543DCC-F7C9-642A-B0A2-C1E4CC7FC243}"/>
                </a:ext>
              </a:extLst>
            </p:cNvPr>
            <p:cNvSpPr/>
            <p:nvPr/>
          </p:nvSpPr>
          <p:spPr>
            <a:xfrm>
              <a:off x="2380341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Flowchart: Punched Tape 31">
              <a:extLst>
                <a:ext uri="{FF2B5EF4-FFF2-40B4-BE49-F238E27FC236}">
                  <a16:creationId xmlns:a16="http://schemas.microsoft.com/office/drawing/2014/main" id="{5ABA9730-B351-826A-5AE2-C6AC9F83ECB0}"/>
                </a:ext>
              </a:extLst>
            </p:cNvPr>
            <p:cNvSpPr/>
            <p:nvPr/>
          </p:nvSpPr>
          <p:spPr>
            <a:xfrm>
              <a:off x="3889827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Flowchart: Punched Tape 32">
              <a:extLst>
                <a:ext uri="{FF2B5EF4-FFF2-40B4-BE49-F238E27FC236}">
                  <a16:creationId xmlns:a16="http://schemas.microsoft.com/office/drawing/2014/main" id="{6F01854D-9C20-4FDA-7B52-AD8A0489D6D3}"/>
                </a:ext>
              </a:extLst>
            </p:cNvPr>
            <p:cNvSpPr/>
            <p:nvPr/>
          </p:nvSpPr>
          <p:spPr>
            <a:xfrm>
              <a:off x="5399313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lowchart: Punched Tape 33">
              <a:extLst>
                <a:ext uri="{FF2B5EF4-FFF2-40B4-BE49-F238E27FC236}">
                  <a16:creationId xmlns:a16="http://schemas.microsoft.com/office/drawing/2014/main" id="{8E11B059-2024-4088-DF04-8D988E284B4E}"/>
                </a:ext>
              </a:extLst>
            </p:cNvPr>
            <p:cNvSpPr/>
            <p:nvPr/>
          </p:nvSpPr>
          <p:spPr>
            <a:xfrm>
              <a:off x="6908799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Flowchart: Punched Tape 34">
              <a:extLst>
                <a:ext uri="{FF2B5EF4-FFF2-40B4-BE49-F238E27FC236}">
                  <a16:creationId xmlns:a16="http://schemas.microsoft.com/office/drawing/2014/main" id="{C71285C1-912B-6FCE-D904-FDDB478A4D2A}"/>
                </a:ext>
              </a:extLst>
            </p:cNvPr>
            <p:cNvSpPr/>
            <p:nvPr/>
          </p:nvSpPr>
          <p:spPr>
            <a:xfrm>
              <a:off x="8418285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Flowchart: Punched Tape 35">
              <a:extLst>
                <a:ext uri="{FF2B5EF4-FFF2-40B4-BE49-F238E27FC236}">
                  <a16:creationId xmlns:a16="http://schemas.microsoft.com/office/drawing/2014/main" id="{C0E9E45E-69B9-EB5B-9E29-12E3825C05A0}"/>
                </a:ext>
              </a:extLst>
            </p:cNvPr>
            <p:cNvSpPr/>
            <p:nvPr/>
          </p:nvSpPr>
          <p:spPr>
            <a:xfrm>
              <a:off x="9927771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Flowchart: Punched Tape 36">
              <a:extLst>
                <a:ext uri="{FF2B5EF4-FFF2-40B4-BE49-F238E27FC236}">
                  <a16:creationId xmlns:a16="http://schemas.microsoft.com/office/drawing/2014/main" id="{DCFF4997-F953-CFD5-6E52-EF39FB5E0B84}"/>
                </a:ext>
              </a:extLst>
            </p:cNvPr>
            <p:cNvSpPr/>
            <p:nvPr/>
          </p:nvSpPr>
          <p:spPr>
            <a:xfrm>
              <a:off x="11437257" y="6587786"/>
              <a:ext cx="1509486" cy="471714"/>
            </a:xfrm>
            <a:prstGeom prst="flowChartPunchedTap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018973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7B286-A690-DC29-460E-499D103A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325FE7-AAF7-0190-A72C-BA375B97BB27}"/>
              </a:ext>
            </a:extLst>
          </p:cNvPr>
          <p:cNvSpPr txBox="1"/>
          <p:nvPr/>
        </p:nvSpPr>
        <p:spPr>
          <a:xfrm>
            <a:off x="632177" y="587023"/>
            <a:ext cx="33909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86843-D577-EEBA-5B6A-D9A53361B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247" y="587023"/>
            <a:ext cx="4029576" cy="5683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F72EE6-5423-CC83-608C-463E4F04F9BD}"/>
              </a:ext>
            </a:extLst>
          </p:cNvPr>
          <p:cNvSpPr txBox="1"/>
          <p:nvPr/>
        </p:nvSpPr>
        <p:spPr>
          <a:xfrm>
            <a:off x="654224" y="1074509"/>
            <a:ext cx="6876023" cy="5379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VITALS-Edge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follows an edge-first, three-layer design consisting of the </a:t>
            </a:r>
          </a:p>
          <a:p>
            <a:pPr marL="628650" lvl="1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Layer</a:t>
            </a:r>
          </a:p>
          <a:p>
            <a:pPr marL="628650" lvl="1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Processing Layer</a:t>
            </a:r>
          </a:p>
          <a:p>
            <a:pPr marL="628650" lvl="1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Intelligence Layer.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telemetry is continuously collected from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CAN/OBD-II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vibration, temperature, and pressure sensors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a dataset replay engine enables prototype demonstration without a physical engine.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incoming signals are processed through a shared preprocessing module that performs windowing, normalization, scaling, and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FFT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to ensure identical processing during both training and inference.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features are passed to two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locally on the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device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ONNX Runtime (or </a:t>
            </a:r>
            <a:r>
              <a:rPr lang="en-US" sz="12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TensorRT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INT8 on NVIDIA Jetson)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Autoencoder-based Anomaly Detection model for identifying abnormal operating conditions and a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CNN-LSTM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Remaining Useful Life (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model for estimating component life.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outputs are combined by a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Engine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evaluates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severity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classifies the vehicle health into </a:t>
            </a:r>
            <a:r>
              <a:rPr lang="en-US" sz="1200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Healthy, Watch, Warning, or Critical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fault is detected, the system immediately triggers local alerts and simultaneously generates a lightweight JSON alert (&lt;1 KB).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these compact health events are transmitted through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cloud, minimizing bandwidth while allowing the vehicle to continue operating even during complete network loss.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 layer validates and stores incoming events in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(prototype) or </a:t>
            </a:r>
            <a:r>
              <a:rPr lang="en-US" sz="1200" b="1" i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InfluxDB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(production), where a lightweight Digital Twin projects degradation trends and Remaining Useful Life.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a </a:t>
            </a:r>
            <a:r>
              <a:rPr lang="en-US" sz="12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 dashboard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live health status, fault history, RUL countdown, digital twin model and maintenance recommendations for engineers.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D77267-596F-BAF9-33C6-61CBDAA21982}"/>
              </a:ext>
            </a:extLst>
          </p:cNvPr>
          <p:cNvGrpSpPr/>
          <p:nvPr/>
        </p:nvGrpSpPr>
        <p:grpSpPr>
          <a:xfrm>
            <a:off x="-371475" y="-849167"/>
            <a:ext cx="790575" cy="7969800"/>
            <a:chOff x="-371475" y="-341167"/>
            <a:chExt cx="790575" cy="7969800"/>
          </a:xfrm>
        </p:grpSpPr>
        <p:sp>
          <p:nvSpPr>
            <p:cNvPr id="7" name="Flowchart: Decision 6">
              <a:extLst>
                <a:ext uri="{FF2B5EF4-FFF2-40B4-BE49-F238E27FC236}">
                  <a16:creationId xmlns:a16="http://schemas.microsoft.com/office/drawing/2014/main" id="{B8B12DA0-1240-4469-6E9C-0E0D75BCFADF}"/>
                </a:ext>
              </a:extLst>
            </p:cNvPr>
            <p:cNvSpPr/>
            <p:nvPr/>
          </p:nvSpPr>
          <p:spPr>
            <a:xfrm>
              <a:off x="-371475" y="-341167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Flowchart: Decision 7">
              <a:extLst>
                <a:ext uri="{FF2B5EF4-FFF2-40B4-BE49-F238E27FC236}">
                  <a16:creationId xmlns:a16="http://schemas.microsoft.com/office/drawing/2014/main" id="{CB99C828-2B25-3A3E-55D1-B47AF9ABB53D}"/>
                </a:ext>
              </a:extLst>
            </p:cNvPr>
            <p:cNvSpPr/>
            <p:nvPr/>
          </p:nvSpPr>
          <p:spPr>
            <a:xfrm>
              <a:off x="-371475" y="321330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Flowchart: Decision 8">
              <a:extLst>
                <a:ext uri="{FF2B5EF4-FFF2-40B4-BE49-F238E27FC236}">
                  <a16:creationId xmlns:a16="http://schemas.microsoft.com/office/drawing/2014/main" id="{4073D9AF-98BD-494F-3291-F5CAD0BF39B7}"/>
                </a:ext>
              </a:extLst>
            </p:cNvPr>
            <p:cNvSpPr/>
            <p:nvPr/>
          </p:nvSpPr>
          <p:spPr>
            <a:xfrm>
              <a:off x="-371475" y="983827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43745CBB-B0EA-A024-90AB-88257131D428}"/>
                </a:ext>
              </a:extLst>
            </p:cNvPr>
            <p:cNvSpPr/>
            <p:nvPr/>
          </p:nvSpPr>
          <p:spPr>
            <a:xfrm>
              <a:off x="-371475" y="1646324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Decision 10">
              <a:extLst>
                <a:ext uri="{FF2B5EF4-FFF2-40B4-BE49-F238E27FC236}">
                  <a16:creationId xmlns:a16="http://schemas.microsoft.com/office/drawing/2014/main" id="{3F141A79-E51A-4A20-1509-42D2B95CEDC5}"/>
                </a:ext>
              </a:extLst>
            </p:cNvPr>
            <p:cNvSpPr/>
            <p:nvPr/>
          </p:nvSpPr>
          <p:spPr>
            <a:xfrm>
              <a:off x="-371475" y="2308821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Decision 11">
              <a:extLst>
                <a:ext uri="{FF2B5EF4-FFF2-40B4-BE49-F238E27FC236}">
                  <a16:creationId xmlns:a16="http://schemas.microsoft.com/office/drawing/2014/main" id="{30A548F7-402E-A15E-4C81-EE3671F07EF2}"/>
                </a:ext>
              </a:extLst>
            </p:cNvPr>
            <p:cNvSpPr/>
            <p:nvPr/>
          </p:nvSpPr>
          <p:spPr>
            <a:xfrm>
              <a:off x="-371475" y="2971318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Flowchart: Decision 12">
              <a:extLst>
                <a:ext uri="{FF2B5EF4-FFF2-40B4-BE49-F238E27FC236}">
                  <a16:creationId xmlns:a16="http://schemas.microsoft.com/office/drawing/2014/main" id="{DEF4DBC4-28B2-99DC-407D-81FE15941F91}"/>
                </a:ext>
              </a:extLst>
            </p:cNvPr>
            <p:cNvSpPr/>
            <p:nvPr/>
          </p:nvSpPr>
          <p:spPr>
            <a:xfrm>
              <a:off x="-371475" y="3633815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lowchart: Decision 13">
              <a:extLst>
                <a:ext uri="{FF2B5EF4-FFF2-40B4-BE49-F238E27FC236}">
                  <a16:creationId xmlns:a16="http://schemas.microsoft.com/office/drawing/2014/main" id="{BE44174B-353B-9A83-135A-F911F3A8FBD7}"/>
                </a:ext>
              </a:extLst>
            </p:cNvPr>
            <p:cNvSpPr/>
            <p:nvPr/>
          </p:nvSpPr>
          <p:spPr>
            <a:xfrm>
              <a:off x="-371475" y="4296312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Flowchart: Decision 14">
              <a:extLst>
                <a:ext uri="{FF2B5EF4-FFF2-40B4-BE49-F238E27FC236}">
                  <a16:creationId xmlns:a16="http://schemas.microsoft.com/office/drawing/2014/main" id="{BC485154-4291-CD4A-1E41-9F799801A7CD}"/>
                </a:ext>
              </a:extLst>
            </p:cNvPr>
            <p:cNvSpPr/>
            <p:nvPr/>
          </p:nvSpPr>
          <p:spPr>
            <a:xfrm>
              <a:off x="-371475" y="4958809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Flowchart: Decision 15">
              <a:extLst>
                <a:ext uri="{FF2B5EF4-FFF2-40B4-BE49-F238E27FC236}">
                  <a16:creationId xmlns:a16="http://schemas.microsoft.com/office/drawing/2014/main" id="{24F77F3E-2F16-8DE4-582F-44FD39C3614B}"/>
                </a:ext>
              </a:extLst>
            </p:cNvPr>
            <p:cNvSpPr/>
            <p:nvPr/>
          </p:nvSpPr>
          <p:spPr>
            <a:xfrm>
              <a:off x="-371475" y="5621306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Flowchart: Decision 16">
              <a:extLst>
                <a:ext uri="{FF2B5EF4-FFF2-40B4-BE49-F238E27FC236}">
                  <a16:creationId xmlns:a16="http://schemas.microsoft.com/office/drawing/2014/main" id="{06793E56-E5B8-C454-788E-D1EA2A90E049}"/>
                </a:ext>
              </a:extLst>
            </p:cNvPr>
            <p:cNvSpPr/>
            <p:nvPr/>
          </p:nvSpPr>
          <p:spPr>
            <a:xfrm>
              <a:off x="-371475" y="6283803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lowchart: Decision 17">
              <a:extLst>
                <a:ext uri="{FF2B5EF4-FFF2-40B4-BE49-F238E27FC236}">
                  <a16:creationId xmlns:a16="http://schemas.microsoft.com/office/drawing/2014/main" id="{82ACE89D-9171-85EE-A1FB-D0A27117C3BE}"/>
                </a:ext>
              </a:extLst>
            </p:cNvPr>
            <p:cNvSpPr/>
            <p:nvPr/>
          </p:nvSpPr>
          <p:spPr>
            <a:xfrm>
              <a:off x="-371475" y="6946300"/>
              <a:ext cx="790575" cy="682333"/>
            </a:xfrm>
            <a:prstGeom prst="flowChartDecis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770584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43CD7-497D-4AAA-E744-1C162629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6A82CF-5662-FD83-A5E6-522DD526F97F}"/>
              </a:ext>
            </a:extLst>
          </p:cNvPr>
          <p:cNvSpPr txBox="1"/>
          <p:nvPr/>
        </p:nvSpPr>
        <p:spPr>
          <a:xfrm>
            <a:off x="632177" y="587023"/>
            <a:ext cx="18942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8B68B-6BFA-BA20-309C-AA49D4AFEDDC}"/>
              </a:ext>
            </a:extLst>
          </p:cNvPr>
          <p:cNvSpPr txBox="1"/>
          <p:nvPr/>
        </p:nvSpPr>
        <p:spPr>
          <a:xfrm>
            <a:off x="654224" y="1074509"/>
            <a:ext cx="6876023" cy="2148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innovation lies in combining multiple proven technologies into a single deployable workflow rather than relying on any one algorithm. </a:t>
            </a:r>
          </a:p>
          <a:p>
            <a:pPr marL="628650" lvl="1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autoencoder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normal operating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behavour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identifies previously unseen faults without requiring large labelled datasets. a major challenge in industrial predictive maintenance. </a:t>
            </a:r>
          </a:p>
          <a:p>
            <a:pPr marL="628650" lvl="1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CNN-LSTM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continuously estimates the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Remaining Useful Life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critical components. A lightweight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AI predictions using physics-based degradation trends, providing engineers with transparent and explainable maintenance recommendations instead of black-box outputs.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E1AFC-EE1F-B4C9-1DFC-2A6CB6638BD4}"/>
              </a:ext>
            </a:extLst>
          </p:cNvPr>
          <p:cNvSpPr txBox="1"/>
          <p:nvPr/>
        </p:nvSpPr>
        <p:spPr>
          <a:xfrm>
            <a:off x="654224" y="3429000"/>
            <a:ext cx="2514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682F9-715D-7905-8A25-01B3F9773C21}"/>
              </a:ext>
            </a:extLst>
          </p:cNvPr>
          <p:cNvSpPr txBox="1"/>
          <p:nvPr/>
        </p:nvSpPr>
        <p:spPr>
          <a:xfrm>
            <a:off x="654224" y="3829110"/>
            <a:ext cx="6876023" cy="2148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cloud-centric systems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suffer from network latency, high bandwidth costs, limited offline capability, and low explainability, making them difficult to deploy in remote industrial environments.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edge-first architecture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fault detection and Remaining Useful Life (RUL) prediction locally, ensuring real-time decisions even without internet connectivity. By transmitting only compact health alerts instead of continuous raw sensor streams, operational costs and network usage are significantly reduced while preserving data privacy. </a:t>
            </a:r>
          </a:p>
          <a:p>
            <a:pPr marL="171450" indent="-171450">
              <a:lnSpc>
                <a:spcPts val="18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integrating AI with a physics-based digital twin improves transparency and trust, overcoming one of the most cited limitations of current predictive maintenance solutions and enabling industries to make faster, more confident maintenance decisions.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C5636F2F-B334-5047-ECB2-3848750054F8}"/>
              </a:ext>
            </a:extLst>
          </p:cNvPr>
          <p:cNvSpPr/>
          <p:nvPr/>
        </p:nvSpPr>
        <p:spPr>
          <a:xfrm rot="19335557">
            <a:off x="6735717" y="4689001"/>
            <a:ext cx="7155543" cy="3049139"/>
          </a:xfrm>
          <a:prstGeom prst="parallelogram">
            <a:avLst>
              <a:gd name="adj" fmla="val 1676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55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5BEC9-5FE8-27D4-75E3-3578E495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41E173-771E-FE35-C1F9-2D2A39D25FD5}"/>
              </a:ext>
            </a:extLst>
          </p:cNvPr>
          <p:cNvSpPr txBox="1"/>
          <p:nvPr/>
        </p:nvSpPr>
        <p:spPr>
          <a:xfrm>
            <a:off x="980520" y="1177150"/>
            <a:ext cx="19255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4B25A-D099-BA0B-EF63-136F4DC4111C}"/>
              </a:ext>
            </a:extLst>
          </p:cNvPr>
          <p:cNvSpPr txBox="1"/>
          <p:nvPr/>
        </p:nvSpPr>
        <p:spPr>
          <a:xfrm>
            <a:off x="1002567" y="1577260"/>
            <a:ext cx="9999262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VITALS-Edge demonstrates that the future of predictive maintenance lies not in sending more data to the cloud, but in bringing intelligence closer to the asset.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combines edge AI, unsupervised anomaly detection, Remaining Useful Life (RUL) prediction, and a physics-informed digital twin into a single architecture that addresses the practical limitations of today's predictive maintenance systems.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conventional cloud-centric platforms, the system continues monitoring vehicle health even during network outages, enabling low-latency fault detection while reducing bandwidth usage and protecting sensitive operational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24F670-2ED2-D3E9-DC63-3FAEB7B5EA9C}"/>
              </a:ext>
            </a:extLst>
          </p:cNvPr>
          <p:cNvSpPr txBox="1"/>
          <p:nvPr/>
        </p:nvSpPr>
        <p:spPr>
          <a:xfrm>
            <a:off x="1002567" y="3569921"/>
            <a:ext cx="9999262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differentiates VITALS-Edge is not the invention of entirely new algorithms, but 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practical integration of proven technologies into a deployable edge-first workflow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on-device AI inference, lightweight cloud communication, explainable digital twin validation, and hardware-independent dataset replay creates a solution that is technically feasible, scalable, and suitable for real industrial deployment.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directly addresses major industry challenges including unplanned equipment downtime, delayed fault diagnosis, high communication costs, limited connectivity in remote operating environments, and the shortage of labelled failure datasets.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are consistently highlighted by organizations such as </a:t>
            </a:r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McKinsey &amp; Company, IBM, NVIDIA, Siemens, and AWS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their predictive maintenance and industrial edge computing research.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4721257-AEA0-C80E-4A18-5C904536172D}"/>
              </a:ext>
            </a:extLst>
          </p:cNvPr>
          <p:cNvSpPr/>
          <p:nvPr/>
        </p:nvSpPr>
        <p:spPr>
          <a:xfrm rot="5400000">
            <a:off x="10375340" y="6541911"/>
            <a:ext cx="3001143" cy="632177"/>
          </a:xfrm>
          <a:prstGeom prst="parallelogram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0306CD6-CF23-8AB4-8C43-42696CFBEA56}"/>
              </a:ext>
            </a:extLst>
          </p:cNvPr>
          <p:cNvSpPr/>
          <p:nvPr/>
        </p:nvSpPr>
        <p:spPr>
          <a:xfrm rot="5400000">
            <a:off x="-1184483" y="31029"/>
            <a:ext cx="3001143" cy="632177"/>
          </a:xfrm>
          <a:prstGeom prst="parallelogram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32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35F605-3898-570E-B2CA-85CFEF18A345}"/>
              </a:ext>
            </a:extLst>
          </p:cNvPr>
          <p:cNvSpPr txBox="1"/>
          <p:nvPr/>
        </p:nvSpPr>
        <p:spPr>
          <a:xfrm>
            <a:off x="980520" y="1177150"/>
            <a:ext cx="1914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1156C-7565-6201-A027-0BDF5B4A75DA}"/>
              </a:ext>
            </a:extLst>
          </p:cNvPr>
          <p:cNvSpPr txBox="1"/>
          <p:nvPr/>
        </p:nvSpPr>
        <p:spPr>
          <a:xfrm>
            <a:off x="1002567" y="1577260"/>
            <a:ext cx="4998183" cy="39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NVIDIA Embedded Computing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NASA C-MAPSS Dataset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Case Western Reserve University (CWRU) Bearing Data Center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AWS IoT Core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InfluxDB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Raspberry Pi 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Google Coral TPU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Raspberry Pi Camera Module 3</a:t>
            </a: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Analog Devices ADXL335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/>
              </a:rPr>
              <a:t>Bosch BMP390 Sensor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/>
              </a:rPr>
              <a:t>Maxim DS18B20 Temperature Sensor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MCP2515 CAN Controller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C15EB-6710-3091-FF7B-D6CBBF5AC0E5}"/>
              </a:ext>
            </a:extLst>
          </p:cNvPr>
          <p:cNvSpPr txBox="1"/>
          <p:nvPr/>
        </p:nvSpPr>
        <p:spPr>
          <a:xfrm>
            <a:off x="6096000" y="1577260"/>
            <a:ext cx="4998183" cy="39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5"/>
              </a:rPr>
              <a:t>Remaining Useful Life Estimation Using Functional Data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/>
              </a:rPr>
              <a:t>Remaining Useful Life Estimation for Turbofan Engines: A Comparative Study of Classical, CNN, and LSTM Approaches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7"/>
              </a:rPr>
              <a:t>Isolation Forest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8"/>
              </a:rPr>
              <a:t>Early Fault Detection on CMAPSS with Unsupervised LSTM Autoencoders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9"/>
              </a:rPr>
              <a:t>Auto-Encoding Variational Bayes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0"/>
              </a:rPr>
              <a:t>A Neural Network-Evolutionary Computational Framework for Remaining Useful Life Estimation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1"/>
              </a:rPr>
              <a:t>TensorRT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1"/>
              </a:rPr>
              <a:t> Documentation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2"/>
              </a:rPr>
              <a:t>ONNX Runtime Documentation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4589DA-3A12-6AC9-39E4-20C8A74AF900}"/>
              </a:ext>
            </a:extLst>
          </p:cNvPr>
          <p:cNvGrpSpPr/>
          <p:nvPr/>
        </p:nvGrpSpPr>
        <p:grpSpPr>
          <a:xfrm>
            <a:off x="-1208142" y="6591300"/>
            <a:ext cx="13400142" cy="533400"/>
            <a:chOff x="-1208142" y="6324600"/>
            <a:chExt cx="13400142" cy="5334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" name="Arrow: Notched Right 10">
              <a:extLst>
                <a:ext uri="{FF2B5EF4-FFF2-40B4-BE49-F238E27FC236}">
                  <a16:creationId xmlns:a16="http://schemas.microsoft.com/office/drawing/2014/main" id="{48C8B009-88AE-08F9-67C0-F8CC2B1D314A}"/>
                </a:ext>
              </a:extLst>
            </p:cNvPr>
            <p:cNvSpPr/>
            <p:nvPr/>
          </p:nvSpPr>
          <p:spPr>
            <a:xfrm>
              <a:off x="-1208142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Arrow: Notched Right 11">
              <a:extLst>
                <a:ext uri="{FF2B5EF4-FFF2-40B4-BE49-F238E27FC236}">
                  <a16:creationId xmlns:a16="http://schemas.microsoft.com/office/drawing/2014/main" id="{B7948FEA-1C48-C214-8C62-1D5800D602F3}"/>
                </a:ext>
              </a:extLst>
            </p:cNvPr>
            <p:cNvSpPr/>
            <p:nvPr/>
          </p:nvSpPr>
          <p:spPr>
            <a:xfrm>
              <a:off x="706164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Arrow: Notched Right 12">
              <a:extLst>
                <a:ext uri="{FF2B5EF4-FFF2-40B4-BE49-F238E27FC236}">
                  <a16:creationId xmlns:a16="http://schemas.microsoft.com/office/drawing/2014/main" id="{A5F7535E-8E5B-A66B-002E-2F2C551DCE0E}"/>
                </a:ext>
              </a:extLst>
            </p:cNvPr>
            <p:cNvSpPr/>
            <p:nvPr/>
          </p:nvSpPr>
          <p:spPr>
            <a:xfrm>
              <a:off x="2620470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9996D868-6532-B991-F058-2FD8208AEB00}"/>
                </a:ext>
              </a:extLst>
            </p:cNvPr>
            <p:cNvSpPr/>
            <p:nvPr/>
          </p:nvSpPr>
          <p:spPr>
            <a:xfrm>
              <a:off x="4534776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Arrow: Notched Right 14">
              <a:extLst>
                <a:ext uri="{FF2B5EF4-FFF2-40B4-BE49-F238E27FC236}">
                  <a16:creationId xmlns:a16="http://schemas.microsoft.com/office/drawing/2014/main" id="{67B5272C-028A-72F4-36CC-C93DFDD838A2}"/>
                </a:ext>
              </a:extLst>
            </p:cNvPr>
            <p:cNvSpPr/>
            <p:nvPr/>
          </p:nvSpPr>
          <p:spPr>
            <a:xfrm>
              <a:off x="6449082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Arrow: Notched Right 15">
              <a:extLst>
                <a:ext uri="{FF2B5EF4-FFF2-40B4-BE49-F238E27FC236}">
                  <a16:creationId xmlns:a16="http://schemas.microsoft.com/office/drawing/2014/main" id="{4CA57EB1-C256-F8A3-532F-E2DA067898BA}"/>
                </a:ext>
              </a:extLst>
            </p:cNvPr>
            <p:cNvSpPr/>
            <p:nvPr/>
          </p:nvSpPr>
          <p:spPr>
            <a:xfrm>
              <a:off x="8363388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Arrow: Notched Right 16">
              <a:extLst>
                <a:ext uri="{FF2B5EF4-FFF2-40B4-BE49-F238E27FC236}">
                  <a16:creationId xmlns:a16="http://schemas.microsoft.com/office/drawing/2014/main" id="{68B69044-169C-F6F6-83B3-1F739F54D809}"/>
                </a:ext>
              </a:extLst>
            </p:cNvPr>
            <p:cNvSpPr/>
            <p:nvPr/>
          </p:nvSpPr>
          <p:spPr>
            <a:xfrm>
              <a:off x="10277694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9C41F3-896E-11E1-3A23-576548FC3B22}"/>
              </a:ext>
            </a:extLst>
          </p:cNvPr>
          <p:cNvGrpSpPr/>
          <p:nvPr/>
        </p:nvGrpSpPr>
        <p:grpSpPr>
          <a:xfrm>
            <a:off x="-1208142" y="-266700"/>
            <a:ext cx="13400142" cy="533400"/>
            <a:chOff x="-1208142" y="6324600"/>
            <a:chExt cx="13400142" cy="53340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20" name="Arrow: Notched Right 19">
              <a:extLst>
                <a:ext uri="{FF2B5EF4-FFF2-40B4-BE49-F238E27FC236}">
                  <a16:creationId xmlns:a16="http://schemas.microsoft.com/office/drawing/2014/main" id="{5936D444-C60E-2DE7-AF21-71CE016EF487}"/>
                </a:ext>
              </a:extLst>
            </p:cNvPr>
            <p:cNvSpPr/>
            <p:nvPr/>
          </p:nvSpPr>
          <p:spPr>
            <a:xfrm>
              <a:off x="-1208142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Arrow: Notched Right 20">
              <a:extLst>
                <a:ext uri="{FF2B5EF4-FFF2-40B4-BE49-F238E27FC236}">
                  <a16:creationId xmlns:a16="http://schemas.microsoft.com/office/drawing/2014/main" id="{C38CE264-1885-A4E7-D67B-5A93B9405C88}"/>
                </a:ext>
              </a:extLst>
            </p:cNvPr>
            <p:cNvSpPr/>
            <p:nvPr/>
          </p:nvSpPr>
          <p:spPr>
            <a:xfrm>
              <a:off x="706164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Arrow: Notched Right 21">
              <a:extLst>
                <a:ext uri="{FF2B5EF4-FFF2-40B4-BE49-F238E27FC236}">
                  <a16:creationId xmlns:a16="http://schemas.microsoft.com/office/drawing/2014/main" id="{5230F800-0EC0-E1A9-FD5E-EA7B3D529C7B}"/>
                </a:ext>
              </a:extLst>
            </p:cNvPr>
            <p:cNvSpPr/>
            <p:nvPr/>
          </p:nvSpPr>
          <p:spPr>
            <a:xfrm>
              <a:off x="2620470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Arrow: Notched Right 22">
              <a:extLst>
                <a:ext uri="{FF2B5EF4-FFF2-40B4-BE49-F238E27FC236}">
                  <a16:creationId xmlns:a16="http://schemas.microsoft.com/office/drawing/2014/main" id="{AD1C851B-8F81-3144-1989-3DCC18570878}"/>
                </a:ext>
              </a:extLst>
            </p:cNvPr>
            <p:cNvSpPr/>
            <p:nvPr/>
          </p:nvSpPr>
          <p:spPr>
            <a:xfrm>
              <a:off x="4534776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Arrow: Notched Right 23">
              <a:extLst>
                <a:ext uri="{FF2B5EF4-FFF2-40B4-BE49-F238E27FC236}">
                  <a16:creationId xmlns:a16="http://schemas.microsoft.com/office/drawing/2014/main" id="{DFB9314B-E681-58ED-38AE-D3693D0E5DD7}"/>
                </a:ext>
              </a:extLst>
            </p:cNvPr>
            <p:cNvSpPr/>
            <p:nvPr/>
          </p:nvSpPr>
          <p:spPr>
            <a:xfrm>
              <a:off x="6449082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Arrow: Notched Right 24">
              <a:extLst>
                <a:ext uri="{FF2B5EF4-FFF2-40B4-BE49-F238E27FC236}">
                  <a16:creationId xmlns:a16="http://schemas.microsoft.com/office/drawing/2014/main" id="{CE5F5601-392B-6FE0-1676-C8FCD9A90EF4}"/>
                </a:ext>
              </a:extLst>
            </p:cNvPr>
            <p:cNvSpPr/>
            <p:nvPr/>
          </p:nvSpPr>
          <p:spPr>
            <a:xfrm>
              <a:off x="8363388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Arrow: Notched Right 25">
              <a:extLst>
                <a:ext uri="{FF2B5EF4-FFF2-40B4-BE49-F238E27FC236}">
                  <a16:creationId xmlns:a16="http://schemas.microsoft.com/office/drawing/2014/main" id="{ED595A90-E37E-E850-2D69-DA637F725290}"/>
                </a:ext>
              </a:extLst>
            </p:cNvPr>
            <p:cNvSpPr/>
            <p:nvPr/>
          </p:nvSpPr>
          <p:spPr>
            <a:xfrm>
              <a:off x="10277694" y="6324600"/>
              <a:ext cx="1914306" cy="533400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339566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28B5D8-6D01-C7E4-B8F6-5BE015B39332}"/>
              </a:ext>
            </a:extLst>
          </p:cNvPr>
          <p:cNvSpPr txBox="1"/>
          <p:nvPr/>
        </p:nvSpPr>
        <p:spPr>
          <a:xfrm>
            <a:off x="3995907" y="1349165"/>
            <a:ext cx="4200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  <a:endParaRPr lang="en-IN" sz="5400" b="1" dirty="0">
              <a:solidFill>
                <a:schemeClr val="tx2">
                  <a:lumMod val="75000"/>
                  <a:lumOff val="2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16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2226</Words>
  <Application>Microsoft Office PowerPoint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ADLaM Display</vt:lpstr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Rafi H</dc:creator>
  <cp:lastModifiedBy>Mohammed Rafi H</cp:lastModifiedBy>
  <cp:revision>2</cp:revision>
  <dcterms:created xsi:type="dcterms:W3CDTF">2026-07-05T06:47:48Z</dcterms:created>
  <dcterms:modified xsi:type="dcterms:W3CDTF">2026-07-05T12:04:28Z</dcterms:modified>
</cp:coreProperties>
</file>